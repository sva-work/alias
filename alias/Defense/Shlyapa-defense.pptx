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2529d7a01554746" /><Relationship Type="http://schemas.openxmlformats.org/officeDocument/2006/relationships/extended-properties" Target="/docProps/app.xml" Id="R29e874923cab4779" /><Relationship Type="http://schemas.openxmlformats.org/officeDocument/2006/relationships/officeDocument" Target="/ppt/presentation.xml" Id="Rbba28d753c87467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077eef2bbd34c05"/>
  </p:sldMasterIdLst>
  <p:notesMasterIdLst>
    <p:notesMasterId xmlns:r="http://schemas.openxmlformats.org/officeDocument/2006/relationships" r:id="R8a7d65092e354932"/>
  </p:notesMasterIdLst>
  <p:sldIdLst>
    <p:sldId xmlns:r="http://schemas.openxmlformats.org/officeDocument/2006/relationships" id="256" r:id="Rcadc700c39434687"/>
    <p:sldId xmlns:r="http://schemas.openxmlformats.org/officeDocument/2006/relationships" id="257" r:id="R2bbe461117a84ce0"/>
    <p:sldId xmlns:r="http://schemas.openxmlformats.org/officeDocument/2006/relationships" id="258" r:id="R56df51c8e52f43a1"/>
    <p:sldId xmlns:r="http://schemas.openxmlformats.org/officeDocument/2006/relationships" id="259" r:id="Rc7b31d147db14c15"/>
    <p:sldId xmlns:r="http://schemas.openxmlformats.org/officeDocument/2006/relationships" id="260" r:id="R7cf60c9c079345a8"/>
    <p:sldId xmlns:r="http://schemas.openxmlformats.org/officeDocument/2006/relationships" id="261" r:id="Rbd61850930914701"/>
    <p:sldId xmlns:r="http://schemas.openxmlformats.org/officeDocument/2006/relationships" id="262" r:id="R345116f90df348ef"/>
    <p:sldId xmlns:r="http://schemas.openxmlformats.org/officeDocument/2006/relationships" id="263" r:id="R8987f077a3b04e8d"/>
    <p:sldId xmlns:r="http://schemas.openxmlformats.org/officeDocument/2006/relationships" id="264" r:id="Ra3552d26684c474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c953ef0aed1466e" /><Relationship Type="http://schemas.openxmlformats.org/officeDocument/2006/relationships/slideMaster" Target="/ppt/slideMasters/slideMaster1.xml" Id="Ra077eef2bbd34c05" /><Relationship Type="http://schemas.openxmlformats.org/officeDocument/2006/relationships/notesMaster" Target="/ppt/notesMasters/notesMaster1.xml" Id="R8a7d65092e354932" /><Relationship Type="http://schemas.openxmlformats.org/officeDocument/2006/relationships/presProps" Target="/ppt/presProps.xml" Id="R78ee7eb018434926" /><Relationship Type="http://schemas.openxmlformats.org/officeDocument/2006/relationships/tableStyles" Target="/ppt/tableStyles.xml" Id="Rcf734d40a7894b2e" /><Relationship Type="http://schemas.openxmlformats.org/officeDocument/2006/relationships/slide" Target="/ppt/slides/slide1.xml" Id="Rcadc700c39434687" /><Relationship Type="http://schemas.openxmlformats.org/officeDocument/2006/relationships/slide" Target="/ppt/slides/slide2.xml" Id="R2bbe461117a84ce0" /><Relationship Type="http://schemas.openxmlformats.org/officeDocument/2006/relationships/slide" Target="/ppt/slides/slide3.xml" Id="R56df51c8e52f43a1" /><Relationship Type="http://schemas.openxmlformats.org/officeDocument/2006/relationships/slide" Target="/ppt/slides/slide4.xml" Id="Rc7b31d147db14c15" /><Relationship Type="http://schemas.openxmlformats.org/officeDocument/2006/relationships/slide" Target="/ppt/slides/slide5.xml" Id="R7cf60c9c079345a8" /><Relationship Type="http://schemas.openxmlformats.org/officeDocument/2006/relationships/slide" Target="/ppt/slides/slide6.xml" Id="Rbd61850930914701" /><Relationship Type="http://schemas.openxmlformats.org/officeDocument/2006/relationships/slide" Target="/ppt/slides/slide7.xml" Id="R345116f90df348ef" /><Relationship Type="http://schemas.openxmlformats.org/officeDocument/2006/relationships/slide" Target="/ppt/slides/slide8.xml" Id="R8987f077a3b04e8d" /><Relationship Type="http://schemas.openxmlformats.org/officeDocument/2006/relationships/slide" Target="/ppt/slides/slide9.xml" Id="Ra3552d26684c474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2ba884d5146439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b3e57337aac47f1" /><Relationship Type="http://schemas.openxmlformats.org/officeDocument/2006/relationships/notesMaster" Target="/ppt/notesMasters/notesMaster1.xml" Id="Rb7afc6da9d0743d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af5638cfce547a4" /><Relationship Type="http://schemas.openxmlformats.org/officeDocument/2006/relationships/notesMaster" Target="/ppt/notesMasters/notesMaster1.xml" Id="R45e3cab9c9ed42a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86a00b998074818" /><Relationship Type="http://schemas.openxmlformats.org/officeDocument/2006/relationships/notesMaster" Target="/ppt/notesMasters/notesMaster1.xml" Id="Rac81ac7f286a4dc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5a335ea983044a3" /><Relationship Type="http://schemas.openxmlformats.org/officeDocument/2006/relationships/notesMaster" Target="/ppt/notesMasters/notesMaster1.xml" Id="Rcd985764531646b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54e49d2824c445a" /><Relationship Type="http://schemas.openxmlformats.org/officeDocument/2006/relationships/notesMaster" Target="/ppt/notesMasters/notesMaster1.xml" Id="R6dab7a1e31d04bc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2a8a6e5d57b40ea" /><Relationship Type="http://schemas.openxmlformats.org/officeDocument/2006/relationships/notesMaster" Target="/ppt/notesMasters/notesMaster1.xml" Id="R655e3ab12c65443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e53535bb62543bb" /><Relationship Type="http://schemas.openxmlformats.org/officeDocument/2006/relationships/notesMaster" Target="/ppt/notesMasters/notesMaster1.xml" Id="R1f17dbcb7fa446d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21e56a779af4c0f" /><Relationship Type="http://schemas.openxmlformats.org/officeDocument/2006/relationships/notesMaster" Target="/ppt/notesMasters/notesMaster1.xml" Id="R19adfa2e71ef432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b3517a45b384336" /><Relationship Type="http://schemas.openxmlformats.org/officeDocument/2006/relationships/notesMaster" Target="/ppt/notesMasters/notesMaster1.xml" Id="Re88ae7bd1d454af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Финальный учебный проект. SwiftUI, UIKit, SwiftData, URLSession и сервер Groq. Реальный ключ добавляется на сервер после подготовки проекта.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Показать свайпы, паузу и общее слово. За общее слово очко может получить любая команда. Результаты редактируются до подтверждения и после игры.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PacksViewController реализует UICollectionViewDataSource и UICollectionViewDelegate. Собственная ячейка PackCell, compositional layout. SwiftUI навигация остаётся владельцем переходов.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ContentView: три вкладки TabView, отдельные NavigationStack. Типизированный Route задаёт подготовку игры. GamePhase задаёт состояния партии. Состояние находится во ViewModel, правила — в value type GameSession.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SRP: Domain не знает о SwiftUI и SwiftData. Presentation не создаёт URLSession или ModelContext. Composition root aliasApp внедряет реализации. DIP и OCP: сервисы заменяются через протоколы. ISP: генерация и хранение — отдельные контракты. LSP проверяется подстановкой тестового генератора.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https://console.groq.com/docs/structured-outputs и https://console.groq.com/docs/openai. POST /generate передаёт тему, сложность и количество слов. Сервер вызывает Groq с JSON Schema. Ключ в .env, не в приложении. На снимке — реально проверенное состояние без ключа. Успешный ответ Groq пока не проверен, ключ не подключён.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SwiftData хранит свои наборы, активную игру и историю через StoredDocument с уникальным ключом и Codable payload. Дисковое чтение после пересоздания контейнера проверено. Счёт выводится из журнала результатов, поэтому исправления меняют лидера. Снимок имеет ограничения для сложных запросов; при росте данных нужны отдельные сущности.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Два UI-теста прошли на iPhone 17 Pro Simulator iOS 26.2: полный игровой цикл и ошибка отсутствующего ключа через настоящий локальный HTTP-сервер. DomainTests и StorageTests запускались отдельно. Шесть серверных тестов используют управляемый upstream вместо реального Groq; это не проверка качества генерации.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Подробный сценарий находится в Defense/Live-demo.md. До реальной генерации нужен GROQ_API_KEY. Для физического iPhone сервер должен иметь HTTPS URL. Перед защитой проверить квоту модели и сохранить один набор офлайн.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ff93c8ef54459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3f033b0699471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24e4713810475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5abee68ef04c1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a8e272923344b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8b67978c2d470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A5F0D72-61F5-483A-955A-D5E86BC23F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F89A255-0FC6-4CA2-B541-1596B2A5036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6CDCAEE-3464-4C8F-B027-56759E65D5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037D715-ECEB-4B77-9821-D5DA2682A7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5AB4414-686C-4529-8583-CD1DA93F96E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8FAAD7E-A88D-4EB7-97C8-7D8AD11A02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84854CD-10D4-4454-9CE1-27F5E208562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26A15B1-7D9C-436E-A641-1374BDEB4F2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8699A10-2071-44E7-9C75-4773BE301E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A3B8150-0386-4BC9-84DD-D7B24E03B49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c5ed36536fc4755" /><Relationship Type="http://schemas.openxmlformats.org/officeDocument/2006/relationships/slideLayout" Target="/ppt/slideLayouts/slideLayout1.xml" Id="R89562e54651f4c56" /><Relationship Type="http://schemas.openxmlformats.org/officeDocument/2006/relationships/slideLayout" Target="/ppt/slideLayouts/slideLayout2.xml" Id="R41c7c42aade34452" /><Relationship Type="http://schemas.openxmlformats.org/officeDocument/2006/relationships/slideLayout" Target="/ppt/slideLayouts/slideLayout3.xml" Id="R17f17dc8bdc84684" /><Relationship Type="http://schemas.openxmlformats.org/officeDocument/2006/relationships/slideLayout" Target="/ppt/slideLayouts/slideLayout4.xml" Id="R5dff71e1ef4e412b" /><Relationship Type="http://schemas.openxmlformats.org/officeDocument/2006/relationships/slideLayout" Target="/ppt/slideLayouts/slideLayout5.xml" Id="R65391f90839248fc" /><Relationship Type="http://schemas.openxmlformats.org/officeDocument/2006/relationships/slideLayout" Target="/ppt/slideLayouts/slideLayout6.xml" Id="Rb2e8507497bf410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9562e54651f4c56"/>
    <p:sldLayoutId xmlns:r="http://schemas.openxmlformats.org/officeDocument/2006/relationships" id="2147483650" r:id="R41c7c42aade34452"/>
    <p:sldLayoutId xmlns:r="http://schemas.openxmlformats.org/officeDocument/2006/relationships" id="2147483651" r:id="R17f17dc8bdc84684"/>
    <p:sldLayoutId xmlns:r="http://schemas.openxmlformats.org/officeDocument/2006/relationships" id="2147483652" r:id="R5dff71e1ef4e412b"/>
    <p:sldLayoutId xmlns:r="http://schemas.openxmlformats.org/officeDocument/2006/relationships" id="2147483653" r:id="R65391f90839248fc"/>
    <p:sldLayoutId xmlns:r="http://schemas.openxmlformats.org/officeDocument/2006/relationships" id="2147483654" r:id="Rb2e8507497bf410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a6f01d067047c9" /><Relationship Type="http://schemas.openxmlformats.org/officeDocument/2006/relationships/image" Target="/ppt/media/image.png" Id="Rfaf2528c13f14948" /><Relationship Type="http://schemas.openxmlformats.org/officeDocument/2006/relationships/notesSlide" Target="/ppt/notesSlides/notesSlide1.xml" Id="Ra6ef13600ea44fc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b949fd8c2548cb" /><Relationship Type="http://schemas.openxmlformats.org/officeDocument/2006/relationships/image" Target="/ppt/media/image2.png" Id="R88da314c663641f8" /><Relationship Type="http://schemas.openxmlformats.org/officeDocument/2006/relationships/image" Target="/ppt/media/image3.png" Id="Rb9d6905a5bc4417f" /><Relationship Type="http://schemas.openxmlformats.org/officeDocument/2006/relationships/image" Target="/ppt/media/image4.png" Id="Re49bea206fb34951" /><Relationship Type="http://schemas.openxmlformats.org/officeDocument/2006/relationships/notesSlide" Target="/ppt/notesSlides/notesSlide2.xml" Id="R0fc6c3ac3081489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cefede9ec444db" /><Relationship Type="http://schemas.openxmlformats.org/officeDocument/2006/relationships/image" Target="/ppt/media/image5.png" Id="R6653c543d7ab4a56" /><Relationship Type="http://schemas.openxmlformats.org/officeDocument/2006/relationships/notesSlide" Target="/ppt/notesSlides/notesSlide3.xml" Id="R37d0baf13a32414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157ead701546d6" /><Relationship Type="http://schemas.openxmlformats.org/officeDocument/2006/relationships/notesSlide" Target="/ppt/notesSlides/notesSlide4.xml" Id="Re979156401cb4b8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fdd40a690949b8" /><Relationship Type="http://schemas.openxmlformats.org/officeDocument/2006/relationships/notesSlide" Target="/ppt/notesSlides/notesSlide5.xml" Id="R3d51a732bdae47a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4fc7f4d44040e7" /><Relationship Type="http://schemas.openxmlformats.org/officeDocument/2006/relationships/image" Target="/ppt/media/image6.png" Id="Re9fff0a164334d09" /><Relationship Type="http://schemas.openxmlformats.org/officeDocument/2006/relationships/notesSlide" Target="/ppt/notesSlides/notesSlide6.xml" Id="R1e612ebceb114d1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d5144982714438" /><Relationship Type="http://schemas.openxmlformats.org/officeDocument/2006/relationships/image" Target="/ppt/media/image7.png" Id="R83e4392865f74666" /><Relationship Type="http://schemas.openxmlformats.org/officeDocument/2006/relationships/notesSlide" Target="/ppt/notesSlides/notesSlide7.xml" Id="Rd3135f7c6f1e465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09779a39da4383" /><Relationship Type="http://schemas.openxmlformats.org/officeDocument/2006/relationships/notesSlide" Target="/ppt/notesSlides/notesSlide8.xml" Id="R5618ffa5884b43c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668fef5b1e43b5" /><Relationship Type="http://schemas.openxmlformats.org/officeDocument/2006/relationships/notesSlide" Target="/ppt/notesSlides/notesSlide9.xml" Id="R2e2c3f8ed25343f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0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1F382E-FE33-4586-A552-155503ED7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30213F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30213F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30213F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30213F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30213F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30213F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30213F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30213F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30213F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3021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30213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0213F"/>
                </a:solidFill>
                <a:latin typeface="Arial"/>
                <a:ea typeface="Arial"/>
                <a:cs typeface="Arial"/>
              </a:rPr>
              <a:t>Шляпа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723086-63D9-4C8D-91A5-262399DB6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628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7946B8"/>
                </a:solidFill>
                <a:latin typeface="Arial"/>
                <a:ea typeface="Arial"/>
                <a:cs typeface="Arial"/>
              </a:rPr>
              <a:t>Объясняй. Угадывай.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56173A-3BAA-411E-8774-5FE9E0491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590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30213F"/>
                </a:solidFill>
                <a:latin typeface="Arial"/>
                <a:ea typeface="Arial"/>
                <a:cs typeface="Arial"/>
              </a:rPr>
              <a:t>Игра на одном телефоне</a:t>
            </a:r>
          </a:p>
          <a:p xmlns:a="http://schemas.openxmlformats.org/drawingml/2006/main">
            <a:pPr>
              <a:defRPr sz="2400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30213F"/>
                </a:solidFill>
                <a:latin typeface="Arial"/>
                <a:ea typeface="Arial"/>
                <a:cs typeface="Arial"/>
              </a:rPr>
              <a:t>для 2–6 команд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85EDE0-8B64-44EB-9D47-BACE96165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600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776180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776180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776180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776180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776180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776180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776180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776180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776180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7761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77618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776180"/>
                </a:solidFill>
                <a:latin typeface="Arial"/>
                <a:ea typeface="Arial"/>
                <a:cs typeface="Arial"/>
              </a:rPr>
              <a:t>iOS 17+ · SwiftUI + UIKit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C1D28C-7898-408E-A385-00814322A2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f2528c13f14948"/>
          <a:stretch xmlns:a="http://schemas.openxmlformats.org/drawingml/2006/main"/>
        </p:blipFill>
        <p:spPr>
          <a:xfrm xmlns:a="http://schemas.openxmlformats.org/drawingml/2006/main">
            <a:off x="8382000" y="1219200"/>
            <a:ext cx="2387680" cy="5191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020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0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CDBEAE-4DA6-4A7F-AAD8-215818966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30213F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30213F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30213F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30213F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30213F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30213F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30213F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30213F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30213F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3021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30213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0213F"/>
                </a:solidFill>
                <a:latin typeface="Arial"/>
                <a:ea typeface="Arial"/>
                <a:cs typeface="Arial"/>
              </a:rPr>
              <a:t>Один игровой цикл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99EF4D-2128-4FE7-A466-1352DE190F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da314c663641f8"/>
          <a:stretch xmlns:a="http://schemas.openxmlformats.org/drawingml/2006/main"/>
        </p:blipFill>
        <p:spPr>
          <a:xfrm xmlns:a="http://schemas.openxmlformats.org/drawingml/2006/main">
            <a:off x="952500" y="1400175"/>
            <a:ext cx="2102911" cy="4572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078B43-13D2-4BBC-892C-9DD2B7D6A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19125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30213F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30213F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30213F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30213F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30213F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30213F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30213F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30213F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30213F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3021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30213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0213F"/>
                </a:solidFill>
                <a:latin typeface="Arial"/>
                <a:ea typeface="Arial"/>
                <a:cs typeface="Arial"/>
              </a:rPr>
              <a:t>Объяснить слово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C5820D-E0E6-4D51-8268-ADA98F2CA9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d6905a5bc4417f"/>
          <a:stretch xmlns:a="http://schemas.openxmlformats.org/drawingml/2006/main"/>
        </p:blipFill>
        <p:spPr>
          <a:xfrm xmlns:a="http://schemas.openxmlformats.org/drawingml/2006/main">
            <a:off x="4667250" y="1400175"/>
            <a:ext cx="2102911" cy="4572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6F2E50-D838-42C7-A90C-98DABFB94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19125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30213F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30213F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30213F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30213F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30213F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30213F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30213F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30213F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30213F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3021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30213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0213F"/>
                </a:solidFill>
                <a:latin typeface="Arial"/>
                <a:ea typeface="Arial"/>
                <a:cs typeface="Arial"/>
              </a:rPr>
              <a:t>Выбрать команду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49BE25-3F33-47DF-8C2C-4A21D2F73B0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9bea206fb34951"/>
          <a:stretch xmlns:a="http://schemas.openxmlformats.org/drawingml/2006/main"/>
        </p:blipFill>
        <p:spPr>
          <a:xfrm xmlns:a="http://schemas.openxmlformats.org/drawingml/2006/main">
            <a:off x="8382000" y="1400175"/>
            <a:ext cx="2102911" cy="4572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623A27-1908-4E9C-AB1B-A43FBABE3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619125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30213F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30213F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30213F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30213F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30213F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30213F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30213F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30213F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30213F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3021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30213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0213F"/>
                </a:solidFill>
                <a:latin typeface="Arial"/>
                <a:ea typeface="Arial"/>
                <a:cs typeface="Arial"/>
              </a:rPr>
              <a:t>Проверить победителя</a:t>
            </a:r>
          </a:p>
        </p:txBody>
      </p:sp>
    </p:spTree>
    <p:extLst>
      <p:ext uri="{BB962C8B-B14F-4D97-AF65-F5344CB8AC3E}">
        <p14:creationId xmlns:p14="http://schemas.microsoft.com/office/powerpoint/2010/main" val="14696363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0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25D649-4955-48FD-B51D-FF2C8DF18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30213F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30213F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30213F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30213F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30213F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30213F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30213F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30213F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30213F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3021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30213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0213F"/>
                </a:solidFill>
                <a:latin typeface="Arial"/>
                <a:ea typeface="Arial"/>
                <a:cs typeface="Arial"/>
              </a:rPr>
              <a:t>UIKit внутри SwiftUI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66EDD4-375E-46B6-8D2F-FE59B60304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53c543d7ab4a56"/>
          <a:stretch xmlns:a="http://schemas.openxmlformats.org/drawingml/2006/main"/>
        </p:blipFill>
        <p:spPr>
          <a:xfrm xmlns:a="http://schemas.openxmlformats.org/drawingml/2006/main">
            <a:off x="762000" y="1381125"/>
            <a:ext cx="2300059" cy="5000625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7B6387-F0D7-4C2E-8204-1FB41FE0F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14500"/>
            <a:ext cx="685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7946B8"/>
                </a:solidFill>
                <a:latin typeface="Arial"/>
                <a:ea typeface="Arial"/>
                <a:cs typeface="Arial"/>
              </a:rPr>
              <a:t>Выбор наборов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821F67-D78C-41F6-B88E-C1B85BEE2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71750"/>
            <a:ext cx="7048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0213F"/>
                </a:solidFill>
                <a:latin typeface="Arial"/>
                <a:ea typeface="Arial"/>
                <a:cs typeface="Arial"/>
              </a:rPr>
              <a:t>UICollectionView + собственная PackCell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0213F"/>
                </a:solidFill>
                <a:latin typeface="Arial"/>
                <a:ea typeface="Arial"/>
                <a:cs typeface="Arial"/>
              </a:rPr>
              <a:t>Одна колонка, множественный выбор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0213F"/>
                </a:solidFill>
                <a:latin typeface="Arial"/>
                <a:ea typeface="Arial"/>
                <a:cs typeface="Arial"/>
              </a:rPr>
              <a:t>UIViewControllerRepresentable</a:t>
            </a:r>
          </a:p>
          <a:p xmlns:a="http://schemas.openxmlformats.org/drawingml/2006/main">
            <a:pPr>
              <a:defRPr sz="2100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0213F"/>
                </a:solidFill>
                <a:latin typeface="Arial"/>
                <a:ea typeface="Arial"/>
                <a:cs typeface="Arial"/>
              </a:rPr>
              <a:t>связывает UIKit с AppViewModel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7DDAB6-6C42-424D-809B-0E82D764C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810250"/>
            <a:ext cx="704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776180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776180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776180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776180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776180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776180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776180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776180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776180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7761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77618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776180"/>
                </a:solidFill>
                <a:latin typeface="Arial"/>
                <a:ea typeface="Arial"/>
                <a:cs typeface="Arial"/>
              </a:rPr>
              <a:t>Остальные экраны — SwiftUI</a:t>
            </a:r>
          </a:p>
        </p:txBody>
      </p:sp>
    </p:spTree>
    <p:extLst>
      <p:ext uri="{BB962C8B-B14F-4D97-AF65-F5344CB8AC3E}">
        <p14:creationId xmlns:p14="http://schemas.microsoft.com/office/powerpoint/2010/main" val="12241876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0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19BF1E-C902-4FF4-B225-C7BF481B7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30213F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30213F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30213F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30213F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30213F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30213F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30213F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30213F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30213F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3021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30213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0213F"/>
                </a:solidFill>
                <a:latin typeface="Arial"/>
                <a:ea typeface="Arial"/>
                <a:cs typeface="Arial"/>
              </a:rPr>
              <a:t>Навигация и состояние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3584C3-57B4-4A9B-8345-B62E3B674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7946B8"/>
                </a:solidFill>
                <a:latin typeface="Arial"/>
                <a:ea typeface="Arial"/>
                <a:cs typeface="Arial"/>
              </a:rPr>
              <a:t>TabView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A875C6-9E90-42C8-AE47-71D7CB242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30213F"/>
                </a:solidFill>
                <a:latin typeface="Arial"/>
                <a:ea typeface="Arial"/>
                <a:cs typeface="Arial"/>
              </a:rPr>
              <a:t>Играть · История · Правила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27F9A0-54CD-49FE-B755-1A4BBB97C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9087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7946B8"/>
                </a:solidFill>
                <a:latin typeface="Arial"/>
                <a:ea typeface="Arial"/>
                <a:cs typeface="Arial"/>
              </a:rPr>
              <a:t>NavigationStack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C89E62-790D-45CF-B883-3D2DC5472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0213F"/>
                </a:solidFill>
                <a:latin typeface="Arial"/>
                <a:ea typeface="Arial"/>
                <a:cs typeface="Arial"/>
              </a:rPr>
              <a:t>Наборы → Команды → Настройки → Игра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72CDBA-C86E-4590-B891-82E1AD403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776180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776180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776180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776180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776180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776180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776180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776180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776180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7761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77618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776180"/>
                </a:solidFill>
                <a:latin typeface="Arial"/>
                <a:ea typeface="Arial"/>
                <a:cs typeface="Arial"/>
              </a:rPr>
              <a:t>AppViewModel управляет действиями и маршрутом.</a:t>
            </a:r>
          </a:p>
          <a:p xmlns:a="http://schemas.openxmlformats.org/drawingml/2006/main">
            <a:pPr>
              <a:defRPr sz="2100" b="0">
                <a:solidFill>
                  <a:srgbClr val="77618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776180"/>
                </a:solidFill>
                <a:latin typeface="Arial"/>
                <a:ea typeface="Arial"/>
                <a:cs typeface="Arial"/>
              </a:rPr>
              <a:t>GameSession хранит ход, слова и журнал результатов.</a:t>
            </a:r>
          </a:p>
        </p:txBody>
      </p:sp>
    </p:spTree>
    <p:extLst>
      <p:ext uri="{BB962C8B-B14F-4D97-AF65-F5344CB8AC3E}">
        <p14:creationId xmlns:p14="http://schemas.microsoft.com/office/powerpoint/2010/main" val="14470260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0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1B59E9-7B16-4CA3-B448-3A9F3B5CD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30213F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30213F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30213F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30213F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30213F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30213F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30213F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30213F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30213F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3021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30213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0213F"/>
                </a:solidFill>
                <a:latin typeface="Arial"/>
                <a:ea typeface="Arial"/>
                <a:cs typeface="Arial"/>
              </a:rPr>
              <a:t>Слои и зависимости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9311AA-25EB-4A73-B8E8-ABC8D0258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7946B8"/>
                </a:solidFill>
                <a:latin typeface="Arial"/>
                <a:ea typeface="Arial"/>
                <a:cs typeface="Arial"/>
              </a:rPr>
              <a:t>Presentation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0DAE17-C425-4B68-B6FF-93402494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619250"/>
            <a:ext cx="762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0213F"/>
                </a:solidFill>
                <a:latin typeface="Arial"/>
                <a:ea typeface="Arial"/>
                <a:cs typeface="Arial"/>
              </a:rPr>
              <a:t>SwiftUI / UIKit → AppViewModel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9E01EF-3E43-495A-A284-82DE8A60F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7946B8"/>
                </a:solidFill>
                <a:latin typeface="Arial"/>
                <a:ea typeface="Arial"/>
                <a:cs typeface="Arial"/>
              </a:rPr>
              <a:t>Domain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1BD748-1744-4E4D-A425-69F3E74F4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57500"/>
            <a:ext cx="762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0213F"/>
                </a:solidFill>
                <a:latin typeface="Arial"/>
                <a:ea typeface="Arial"/>
                <a:cs typeface="Arial"/>
              </a:rPr>
              <a:t>GameSession · правила · журнал слов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88C0B5-BA7D-4E33-ABB8-E372F6541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7946B8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C1544A-98F6-4658-B8F3-534101779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09575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0213F"/>
                </a:solidFill>
                <a:latin typeface="Arial"/>
                <a:ea typeface="Arial"/>
                <a:cs typeface="Arial"/>
              </a:rPr>
              <a:t>GameRepository → SwiftData</a:t>
            </a:r>
          </a:p>
          <a:p xmlns:a="http://schemas.openxmlformats.org/drawingml/2006/main">
            <a:pPr>
              <a:defRPr sz="2100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0213F"/>
                </a:solidFill>
                <a:latin typeface="Arial"/>
                <a:ea typeface="Arial"/>
                <a:cs typeface="Arial"/>
              </a:rPr>
              <a:t>WordGenerating → URLSession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AF2E47-7955-4867-AA02-E6E30441D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776180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776180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776180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776180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776180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776180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776180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776180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776180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7761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77618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776180"/>
                </a:solidFill>
                <a:latin typeface="Arial"/>
                <a:ea typeface="Arial"/>
                <a:cs typeface="Arial"/>
              </a:rPr>
              <a:t>Реализации создаются в aliasApp и передаются через протоколы</a:t>
            </a:r>
          </a:p>
        </p:txBody>
      </p:sp>
    </p:spTree>
    <p:extLst>
      <p:ext uri="{BB962C8B-B14F-4D97-AF65-F5344CB8AC3E}">
        <p14:creationId xmlns:p14="http://schemas.microsoft.com/office/powerpoint/2010/main" val="134027920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0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D1E221-BD66-4B23-A7C9-63744E433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30213F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30213F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30213F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30213F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30213F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30213F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30213F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30213F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30213F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3021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30213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0213F"/>
                </a:solidFill>
                <a:latin typeface="Arial"/>
                <a:ea typeface="Arial"/>
                <a:cs typeface="Arial"/>
              </a:rPr>
              <a:t>Своя тема через сеть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E373E3-93C4-4362-8069-2CF99A92A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7667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7946B8"/>
                </a:solidFill>
                <a:latin typeface="Arial"/>
                <a:ea typeface="Arial"/>
                <a:cs typeface="Arial"/>
              </a:rPr>
              <a:t>Тема → сервер → Groq → слова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4541D8-79C4-4743-AB04-CF99F0C97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73342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0213F"/>
                </a:solidFill>
                <a:latin typeface="Arial"/>
                <a:ea typeface="Arial"/>
                <a:cs typeface="Arial"/>
              </a:rPr>
              <a:t>URLSession · POST /generate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0213F"/>
                </a:solidFill>
                <a:latin typeface="Arial"/>
                <a:ea typeface="Arial"/>
                <a:cs typeface="Arial"/>
              </a:rPr>
              <a:t>Проверка JSON и удаление повторов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0213F"/>
                </a:solidFill>
                <a:latin typeface="Arial"/>
                <a:ea typeface="Arial"/>
                <a:cs typeface="Arial"/>
              </a:rPr>
              <a:t>Предпросмотр перед сохранением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0213F"/>
                </a:solidFill>
                <a:latin typeface="Arial"/>
                <a:ea typeface="Arial"/>
                <a:cs typeface="Arial"/>
              </a:rPr>
              <a:t>Таймауты, отмена и ошибки лимита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85886E-7F8E-4EB1-9297-5AA2F9F07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7334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7946B8"/>
                </a:solidFill>
                <a:latin typeface="Arial"/>
                <a:ea typeface="Arial"/>
                <a:cs typeface="Arial"/>
              </a:rPr>
              <a:t>Осталось добавить ключ и проверить</a:t>
            </a:r>
          </a:p>
          <a:p xmlns:a="http://schemas.openxmlformats.org/drawingml/2006/main">
            <a:pPr>
              <a:defRPr sz="195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7946B8"/>
                </a:solidFill>
                <a:latin typeface="Arial"/>
                <a:ea typeface="Arial"/>
                <a:cs typeface="Arial"/>
              </a:rPr>
              <a:t>реальную генерацию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194FD9-59E6-447E-A1CC-1A3332064F7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fff0a164334d09"/>
          <a:stretch xmlns:a="http://schemas.openxmlformats.org/drawingml/2006/main"/>
        </p:blipFill>
        <p:spPr>
          <a:xfrm xmlns:a="http://schemas.openxmlformats.org/drawingml/2006/main">
            <a:off x="8858250" y="1333500"/>
            <a:ext cx="2343869" cy="5095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234597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0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CB8FE7-F2AF-47D4-BA77-0F2521B8C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30213F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30213F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30213F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30213F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30213F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30213F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30213F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30213F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30213F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3021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30213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0213F"/>
                </a:solidFill>
                <a:latin typeface="Arial"/>
                <a:ea typeface="Arial"/>
                <a:cs typeface="Arial"/>
              </a:rPr>
              <a:t>Локальные данные и исправление счёта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EDCCFF-7001-49DC-96E4-C05AD36416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e4392865f74666"/>
          <a:stretch xmlns:a="http://schemas.openxmlformats.org/drawingml/2006/main"/>
        </p:blipFill>
        <p:spPr>
          <a:xfrm xmlns:a="http://schemas.openxmlformats.org/drawingml/2006/main">
            <a:off x="762000" y="1381125"/>
            <a:ext cx="2278153" cy="4953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660B15-0D05-470F-BF85-B55BC89B9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666875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7946B8"/>
                </a:solidFill>
                <a:latin typeface="Arial"/>
                <a:ea typeface="Arial"/>
                <a:cs typeface="Arial"/>
              </a:rPr>
              <a:t>SwiftData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93C558-7AE5-4CEE-89AE-B6A478D4B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71750"/>
            <a:ext cx="71437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0213F"/>
                </a:solidFill>
                <a:latin typeface="Arial"/>
                <a:ea typeface="Arial"/>
                <a:cs typeface="Arial"/>
              </a:rPr>
              <a:t>Свои наборы работают офлайн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0213F"/>
                </a:solidFill>
                <a:latin typeface="Arial"/>
                <a:ea typeface="Arial"/>
                <a:cs typeface="Arial"/>
              </a:rPr>
              <a:t>Незаконченная игра восстанавливается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0213F"/>
                </a:solidFill>
                <a:latin typeface="Arial"/>
                <a:ea typeface="Arial"/>
                <a:cs typeface="Arial"/>
              </a:rPr>
              <a:t>История хранится между запусками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0213F"/>
                </a:solidFill>
                <a:latin typeface="Arial"/>
                <a:ea typeface="Arial"/>
                <a:cs typeface="Arial"/>
              </a:rPr>
              <a:t>Исправление слова меняет итог</a:t>
            </a:r>
          </a:p>
          <a:p xmlns:a="http://schemas.openxmlformats.org/drawingml/2006/main">
            <a:pPr>
              <a:defRPr sz="2100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0213F"/>
                </a:solidFill>
                <a:latin typeface="Arial"/>
                <a:ea typeface="Arial"/>
                <a:cs typeface="Arial"/>
              </a:rPr>
              <a:t>и победителя</a:t>
            </a:r>
          </a:p>
        </p:txBody>
      </p:sp>
    </p:spTree>
    <p:extLst>
      <p:ext uri="{BB962C8B-B14F-4D97-AF65-F5344CB8AC3E}">
        <p14:creationId xmlns:p14="http://schemas.microsoft.com/office/powerpoint/2010/main" val="14331878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0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F30CCA-9BB1-4F07-98FF-7F35622B0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30213F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30213F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30213F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30213F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30213F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30213F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30213F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30213F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30213F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3021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30213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0213F"/>
                </a:solidFill>
                <a:latin typeface="Arial"/>
                <a:ea typeface="Arial"/>
                <a:cs typeface="Arial"/>
              </a:rPr>
              <a:t>Проверки проекта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CA60B6-3697-43DD-B4D2-89A0EAC24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409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7946B8"/>
                </a:solidFill>
                <a:latin typeface="Arial"/>
                <a:ea typeface="Arial"/>
                <a:cs typeface="Arial"/>
              </a:rPr>
              <a:t>Игровые правила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D60F55-E6DD-49B6-8FDD-3FCA7EAEF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619250"/>
            <a:ext cx="647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0213F"/>
                </a:solidFill>
                <a:latin typeface="Arial"/>
                <a:ea typeface="Arial"/>
                <a:cs typeface="Arial"/>
              </a:rPr>
              <a:t>Очки, штраф, отмена, общее слово,</a:t>
            </a:r>
          </a:p>
          <a:p xmlns:a="http://schemas.openxmlformats.org/drawingml/2006/main">
            <a:pPr>
              <a:defRPr sz="2025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0213F"/>
                </a:solidFill>
                <a:latin typeface="Arial"/>
                <a:ea typeface="Arial"/>
                <a:cs typeface="Arial"/>
              </a:rPr>
              <a:t>равные ходы, ничья и конец колоды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E54E9A-D49E-4A45-A0A1-381B7B26C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409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7946B8"/>
                </a:solidFill>
                <a:latin typeface="Arial"/>
                <a:ea typeface="Arial"/>
                <a:cs typeface="Arial"/>
              </a:rPr>
              <a:t>SwiftData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E0EFB3-9F78-4FBA-A529-E32A2A90E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952750"/>
            <a:ext cx="647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0213F"/>
                </a:solidFill>
                <a:latin typeface="Arial"/>
                <a:ea typeface="Arial"/>
                <a:cs typeface="Arial"/>
              </a:rPr>
              <a:t>Повторное чтение с диска, наборы,</a:t>
            </a:r>
          </a:p>
          <a:p xmlns:a="http://schemas.openxmlformats.org/drawingml/2006/main">
            <a:pPr>
              <a:defRPr sz="2025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0213F"/>
                </a:solidFill>
                <a:latin typeface="Arial"/>
                <a:ea typeface="Arial"/>
                <a:cs typeface="Arial"/>
              </a:rPr>
              <a:t>история, исправления и удаление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1D3D27-FC4C-4467-A216-216DE99BC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409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7946B8"/>
                </a:solidFill>
                <a:latin typeface="Arial"/>
                <a:ea typeface="Arial"/>
                <a:cs typeface="Arial"/>
              </a:rPr>
              <a:t>Сеть и интерфейс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941E2F-8ED9-4B78-91B9-D30B1CF5C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286250"/>
            <a:ext cx="647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0213F"/>
                </a:solidFill>
                <a:latin typeface="Arial"/>
                <a:ea typeface="Arial"/>
                <a:cs typeface="Arial"/>
              </a:rPr>
              <a:t>6 серверных тестов + 2 UI-теста</a:t>
            </a:r>
          </a:p>
          <a:p xmlns:a="http://schemas.openxmlformats.org/drawingml/2006/main">
            <a:pPr>
              <a:defRPr sz="2025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0213F"/>
                </a:solidFill>
                <a:latin typeface="Arial"/>
                <a:ea typeface="Arial"/>
                <a:cs typeface="Arial"/>
              </a:rPr>
              <a:t>на iPhone Simulator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47D178-2690-4BA7-8D7C-D9F849C24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776180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776180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776180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776180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776180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776180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776180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776180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776180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7761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77618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776180"/>
                </a:solidFill>
                <a:latin typeface="Arial"/>
                <a:ea typeface="Arial"/>
                <a:cs typeface="Arial"/>
              </a:rPr>
              <a:t>Реальный Groq проверяется после добавления ключа</a:t>
            </a:r>
          </a:p>
        </p:txBody>
      </p:sp>
    </p:spTree>
    <p:extLst>
      <p:ext uri="{BB962C8B-B14F-4D97-AF65-F5344CB8AC3E}">
        <p14:creationId xmlns:p14="http://schemas.microsoft.com/office/powerpoint/2010/main" val="133501388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0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1A2300-6295-42E4-9CD6-E84C296E0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30213F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30213F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30213F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30213F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30213F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30213F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30213F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30213F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30213F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3021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30213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0213F"/>
                </a:solidFill>
                <a:latin typeface="Arial"/>
                <a:ea typeface="Arial"/>
                <a:cs typeface="Arial"/>
              </a:rPr>
              <a:t>Live-демо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C09F58-4382-413F-AD90-428735A26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1049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0213F"/>
                </a:solidFill>
                <a:latin typeface="Arial"/>
                <a:ea typeface="Arial"/>
                <a:cs typeface="Arial"/>
              </a:rPr>
              <a:t>01   Создать тему «Кухня» и проверить слова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0213F"/>
                </a:solidFill>
                <a:latin typeface="Arial"/>
                <a:ea typeface="Arial"/>
                <a:cs typeface="Arial"/>
              </a:rPr>
              <a:t>02   Настроить команды и сыграть ход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0213F"/>
                </a:solidFill>
                <a:latin typeface="Arial"/>
                <a:ea typeface="Arial"/>
                <a:cs typeface="Arial"/>
              </a:rPr>
              <a:t>03   Отдать общее слово другой команде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30213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0213F"/>
                </a:solidFill>
                <a:latin typeface="Arial"/>
                <a:ea typeface="Arial"/>
                <a:cs typeface="Arial"/>
              </a:rPr>
              <a:t>04   Исправить результат и открыть историю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6E3C54-BFB4-483B-87F3-AA5AC4D88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7946B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946B8"/>
                </a:solidFill>
                <a:latin typeface="Arial"/>
                <a:ea typeface="Arial"/>
                <a:cs typeface="Arial"/>
              </a:rPr>
              <a:t>Подключение ключа — последний шаг перед сетевой демонстрацией</a:t>
            </a:r>
          </a:p>
        </p:txBody>
      </p:sp>
    </p:spTree>
    <p:extLst>
      <p:ext uri="{BB962C8B-B14F-4D97-AF65-F5344CB8AC3E}">
        <p14:creationId xmlns:p14="http://schemas.microsoft.com/office/powerpoint/2010/main" val="9424940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2026-10-20T17:20:50.8460000Z</dcterms:created>
  <dcterms:modified xsi:type="dcterms:W3CDTF">2026-10-20T17:20:50.8460000Z</dcterms:modified>
</coreProperties>
</file>